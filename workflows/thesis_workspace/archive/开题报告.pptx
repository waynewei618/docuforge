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83" r:id="rId5"/>
    <p:sldId id="286" r:id="rId6"/>
    <p:sldId id="284" r:id="rId7"/>
    <p:sldId id="282" r:id="rId8"/>
    <p:sldId id="288" r:id="rId9"/>
    <p:sldId id="290" r:id="rId10"/>
    <p:sldId id="291" r:id="rId11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2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4148"/>
    <a:srgbClr val="AB8559"/>
    <a:srgbClr val="395B99"/>
    <a:srgbClr val="FFFFFF"/>
    <a:srgbClr val="FDFDFD"/>
    <a:srgbClr val="263D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86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8" y="936"/>
      </p:cViewPr>
      <p:guideLst>
        <p:guide orient="horz" pos="2129"/>
        <p:guide pos="29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31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0D2BCB-6A60-4F4C-AC24-36C205416DBD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2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0D01A7-332F-4713-A6B4-C6034A924C6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“Holistic Urban﻿ 3D Scene Understanding” = “整体城市场景三维理解” 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整体 “Holistic”：既理解几何 (geometry)，也理解外观 (appearance)、语义 (semantics)、运动 (motion) </a:t>
            </a:r>
            <a:endParaRPr lang="en-US" altLang="zh-CN"/>
          </a:p>
          <a:p>
            <a:r>
              <a:rPr lang="en-US" altLang="zh-CN"/>
              <a:t>城市场景 “Urban”：针对真实城市场景 (城市道路 /街景) 进行 3D 重建与理解。 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“自动驾驶技术已经历了多代演进。最早是模块化设计：感知、预测 (规划)、控制彼此分离，各司其职。这种方式可靠、可控，但在模块之间会丢失信息或引入误差。</a:t>
            </a:r>
            <a:endParaRPr lang="zh-CN" altLang="en-US"/>
          </a:p>
          <a:p>
            <a:r>
              <a:rPr lang="zh-CN" altLang="en-US"/>
              <a:t>接下来，深度学习驱动下的端到端架构 (E2E) 出现了：它能直接从摄像头图像映射到具体控制动作，减少了模块间的误差累积，并能进行整体优化。这条路径在行业中已经非常火热。</a:t>
            </a:r>
            <a:endParaRPr lang="zh-CN" altLang="en-US"/>
          </a:p>
          <a:p>
            <a:r>
              <a:rPr lang="zh-CN" altLang="en-US"/>
              <a:t>然而，随着技术进步，更高级的路线正在形成：视觉-语言-动作模型 VLA。VLA 把视觉、语义 (语言) 和动作决策统一在一个模型里，使系统不仅能“看”，还能“理解”和“推理”，这被视为端到端的 2.0。</a:t>
            </a:r>
            <a:endParaRPr lang="zh-CN" altLang="en-US"/>
          </a:p>
          <a:p>
            <a:r>
              <a:rPr lang="zh-CN" altLang="en-US"/>
              <a:t>与此同时，世界模型 (World Model) 架构也在兴起：它用生成式 AI 模拟环境的物理与因果关系，让系统具备长期预测和内部理解能力。</a:t>
            </a:r>
            <a:endParaRPr lang="zh-CN" altLang="en-US"/>
          </a:p>
          <a:p>
            <a:r>
              <a:rPr lang="zh-CN" altLang="en-US"/>
              <a:t>这些高级技术路径对环境的要求极高：不仅仅是图像级别的输入，而是需要 真实、结构化、三维 (3D) 的场景表示。因此，对高质量 3D 重建 (geometry + semantics + appearance) 的需求变得非常迫切。正是这种需求，催生了像 HUGSIM 这样能做照片级真实感 3D 重建与仿真的技术方案。”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 flipH="1">
            <a:off x="0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 flipH="1" flipV="1">
            <a:off x="9605963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3" descr="D:\Desktop\素材\素描城市.png"/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0" y="3494088"/>
            <a:ext cx="12192000" cy="3044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95600" y="1755458"/>
            <a:ext cx="7200800" cy="949878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31160" y="2789808"/>
            <a:ext cx="7200800" cy="36933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91EBD5-C2DF-48B3-BA63-301EF5162E7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/>
          <p:nvPr>
            <p:custDataLst>
              <p:tags r:id="rId2"/>
            </p:custDataLst>
          </p:nvPr>
        </p:nvSpPr>
        <p:spPr>
          <a:xfrm>
            <a:off x="-9525" y="0"/>
            <a:ext cx="371475" cy="1076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467804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8"/>
          <p:cNvSpPr>
            <a:spLocks noGrp="1"/>
          </p:cNvSpPr>
          <p:nvPr>
            <p:ph type="title"/>
          </p:nvPr>
        </p:nvSpPr>
        <p:spPr>
          <a:xfrm>
            <a:off x="507365" y="494349"/>
            <a:ext cx="5995035" cy="62150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1E22EC-C055-4E20-B016-F7B8113FF7D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7"/>
          <p:cNvSpPr/>
          <p:nvPr>
            <p:custDataLst>
              <p:tags r:id="rId2"/>
            </p:custDataLst>
          </p:nvPr>
        </p:nvSpPr>
        <p:spPr>
          <a:xfrm>
            <a:off x="-9525" y="0"/>
            <a:ext cx="371475" cy="1076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/>
          </p:nvPr>
        </p:nvSpPr>
        <p:spPr>
          <a:xfrm>
            <a:off x="1844675" y="2227263"/>
            <a:ext cx="8502650" cy="140493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14"/>
          </p:nvPr>
        </p:nvSpPr>
        <p:spPr>
          <a:xfrm>
            <a:off x="1844040" y="3963670"/>
            <a:ext cx="8502650" cy="140493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22" name="竖排文字占位符 21"/>
          <p:cNvSpPr>
            <a:spLocks noGrp="1"/>
          </p:cNvSpPr>
          <p:nvPr>
            <p:ph type="body" orient="vert" sz="quarter" idx="15"/>
          </p:nvPr>
        </p:nvSpPr>
        <p:spPr>
          <a:xfrm>
            <a:off x="270933" y="1603850"/>
            <a:ext cx="581555" cy="3551237"/>
          </a:xfrm>
        </p:spPr>
        <p:txBody>
          <a:bodyPr vert="eaVert"/>
          <a:lstStyle>
            <a:lvl1pPr marL="0" indent="0" algn="l">
              <a:buFontTx/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6"/>
          </p:nvPr>
        </p:nvSpPr>
        <p:spPr>
          <a:xfrm>
            <a:off x="3929063" y="1270000"/>
            <a:ext cx="4333875" cy="6524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8" name="标题 8"/>
          <p:cNvSpPr>
            <a:spLocks noGrp="1"/>
          </p:cNvSpPr>
          <p:nvPr>
            <p:ph type="title"/>
          </p:nvPr>
        </p:nvSpPr>
        <p:spPr>
          <a:xfrm>
            <a:off x="507365" y="494349"/>
            <a:ext cx="5995035" cy="62150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607DE4-C37C-43E5-8105-138A6FDDE06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3038475" y="2284413"/>
            <a:ext cx="6115050" cy="7667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3" name="Picture 3" descr="D:\Desktop\素材\素描城市.png"/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0" y="0"/>
            <a:ext cx="12192000" cy="2284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373606"/>
            <a:ext cx="10515600" cy="1061467"/>
          </a:xfrm>
        </p:spPr>
        <p:txBody>
          <a:bodyPr>
            <a:normAutofit/>
          </a:bodyPr>
          <a:lstStyle>
            <a:lvl1pPr algn="ctr">
              <a:defRPr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07568" y="4527773"/>
            <a:ext cx="7776864" cy="106146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B96C00-8026-43D2-BBB4-E32CBDE09B69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-9525" y="0"/>
            <a:ext cx="371475" cy="1076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标题 8"/>
          <p:cNvSpPr>
            <a:spLocks noGrp="1"/>
          </p:cNvSpPr>
          <p:nvPr>
            <p:ph type="title"/>
          </p:nvPr>
        </p:nvSpPr>
        <p:spPr>
          <a:xfrm>
            <a:off x="507365" y="494349"/>
            <a:ext cx="5995035" cy="62150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670DD7-746A-4681-8B70-2D901D0B828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和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6"/>
          <p:cNvSpPr/>
          <p:nvPr>
            <p:custDataLst>
              <p:tags r:id="rId2"/>
            </p:custDataLst>
          </p:nvPr>
        </p:nvSpPr>
        <p:spPr>
          <a:xfrm>
            <a:off x="-9525" y="0"/>
            <a:ext cx="371475" cy="1076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9" name="直接连接符 2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692275" y="3868738"/>
            <a:ext cx="6432550" cy="1588"/>
          </a:xfrm>
          <a:prstGeom prst="line">
            <a:avLst/>
          </a:prstGeom>
          <a:noFill/>
          <a:ln w="6350" cap="flat" cmpd="sng">
            <a:solidFill>
              <a:schemeClr val="accent6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图表占位符 13"/>
          <p:cNvSpPr>
            <a:spLocks noGrp="1"/>
          </p:cNvSpPr>
          <p:nvPr>
            <p:ph type="chart" sz="quarter" idx="13"/>
          </p:nvPr>
        </p:nvSpPr>
        <p:spPr>
          <a:xfrm>
            <a:off x="1692275" y="1498124"/>
            <a:ext cx="6537325" cy="2255838"/>
          </a:xfr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293136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图表占位符 13"/>
          <p:cNvSpPr>
            <a:spLocks noGrp="1"/>
          </p:cNvSpPr>
          <p:nvPr>
            <p:ph type="chart" sz="quarter" idx="14"/>
          </p:nvPr>
        </p:nvSpPr>
        <p:spPr>
          <a:xfrm>
            <a:off x="1692275" y="3983831"/>
            <a:ext cx="6537325" cy="2255838"/>
          </a:xfr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rgbClr val="293136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5"/>
          </p:nvPr>
        </p:nvSpPr>
        <p:spPr>
          <a:xfrm>
            <a:off x="8329930" y="1604009"/>
            <a:ext cx="3108325" cy="461963"/>
          </a:xfr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8329930" y="3953509"/>
            <a:ext cx="3108325" cy="461963"/>
          </a:xfrm>
          <a:solidFill>
            <a:schemeClr val="accent6"/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7"/>
          </p:nvPr>
        </p:nvSpPr>
        <p:spPr>
          <a:xfrm>
            <a:off x="8329613" y="2141538"/>
            <a:ext cx="3108325" cy="1612900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1" name="文本占位符 19"/>
          <p:cNvSpPr>
            <a:spLocks noGrp="1"/>
          </p:cNvSpPr>
          <p:nvPr>
            <p:ph type="body" sz="quarter" idx="18"/>
          </p:nvPr>
        </p:nvSpPr>
        <p:spPr>
          <a:xfrm>
            <a:off x="8329612" y="4579461"/>
            <a:ext cx="3108325" cy="1612900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" name="标题 8"/>
          <p:cNvSpPr>
            <a:spLocks noGrp="1"/>
          </p:cNvSpPr>
          <p:nvPr>
            <p:ph type="title"/>
          </p:nvPr>
        </p:nvSpPr>
        <p:spPr>
          <a:xfrm>
            <a:off x="507365" y="494349"/>
            <a:ext cx="5995035" cy="62150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C95421-E4B3-4556-BF4F-C91BEBD81573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-9525" y="0"/>
            <a:ext cx="371475" cy="1076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pic>
        <p:nvPicPr>
          <p:cNvPr id="8195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91175" y="2895600"/>
            <a:ext cx="1009650" cy="1009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87204"/>
            <a:ext cx="4079345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2551812"/>
            <a:ext cx="4079345" cy="3574054"/>
          </a:xfrm>
        </p:spPr>
        <p:txBody>
          <a:bodyPr/>
          <a:lstStyle>
            <a:lvl1pPr>
              <a:defRPr sz="200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80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8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271281" y="1587204"/>
            <a:ext cx="4082519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271280" y="2551221"/>
            <a:ext cx="4082520" cy="3574054"/>
          </a:xfrm>
        </p:spPr>
        <p:txBody>
          <a:bodyPr/>
          <a:lstStyle>
            <a:lvl1pPr>
              <a:defRPr sz="2000">
                <a:solidFill>
                  <a:schemeClr val="accent5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 sz="1800">
                <a:solidFill>
                  <a:schemeClr val="accent5">
                    <a:lumMod val="75000"/>
                  </a:schemeClr>
                </a:solidFill>
              </a:defRPr>
            </a:lvl4pPr>
            <a:lvl5pPr>
              <a:defRPr sz="1800">
                <a:solidFill>
                  <a:schemeClr val="accent5">
                    <a:lumMod val="75000"/>
                  </a:schemeClr>
                </a:solidFill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标题 8"/>
          <p:cNvSpPr>
            <a:spLocks noGrp="1"/>
          </p:cNvSpPr>
          <p:nvPr>
            <p:ph type="title"/>
          </p:nvPr>
        </p:nvSpPr>
        <p:spPr>
          <a:xfrm>
            <a:off x="507365" y="494349"/>
            <a:ext cx="5995035" cy="62150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1601C3-FEA7-4B49-87D4-C69D8ACF5D76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6"/>
          <p:cNvCxnSpPr/>
          <p:nvPr userDrawn="1"/>
        </p:nvCxnSpPr>
        <p:spPr>
          <a:xfrm flipH="1">
            <a:off x="0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 flipH="1" flipV="1">
            <a:off x="9605963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0" name="Picture 3" descr="D:\Desktop\素材\素描城市.png"/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0" y="3494088"/>
            <a:ext cx="12192000" cy="3044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8648" y="2124926"/>
            <a:ext cx="7416824" cy="1741730"/>
          </a:xfrm>
        </p:spPr>
        <p:txBody>
          <a:bodyPr>
            <a:noAutofit/>
          </a:bodyPr>
          <a:lstStyle>
            <a:lvl1pPr algn="ctr">
              <a:defRPr sz="7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51753E-A448-4810-81E6-73659E2F0D1D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B76035-1C90-4B04-B8B5-7277CA17B406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-9525" y="0"/>
            <a:ext cx="371475" cy="1076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293136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4864D4-91CB-4055-9470-98894FA4D56B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6"/>
          <p:cNvSpPr/>
          <p:nvPr>
            <p:custDataLst>
              <p:tags r:id="rId2"/>
            </p:custDataLst>
          </p:nvPr>
        </p:nvSpPr>
        <p:spPr>
          <a:xfrm>
            <a:off x="-9525" y="0"/>
            <a:ext cx="371475" cy="1076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5D5680-0BAF-41C6-9E7E-A0BE33384B0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-9525" y="0"/>
            <a:ext cx="371475" cy="1076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0313D8-19B5-409A-93AE-7F8C59711C60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en-US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en-US" altLang="en-US" dirty="0"/>
              <a:t>第二级</a:t>
            </a:r>
            <a:endParaRPr lang="en-US" altLang="en-US" dirty="0"/>
          </a:p>
          <a:p>
            <a:pPr lvl="2"/>
            <a:r>
              <a:rPr lang="en-US" altLang="en-US" dirty="0"/>
              <a:t>第三级</a:t>
            </a:r>
            <a:endParaRPr lang="en-US" altLang="en-US" dirty="0"/>
          </a:p>
          <a:p>
            <a:pPr lvl="3"/>
            <a:r>
              <a:rPr lang="en-US" altLang="en-US" dirty="0"/>
              <a:t>第四级</a:t>
            </a:r>
            <a:endParaRPr lang="en-US" altLang="en-US" dirty="0"/>
          </a:p>
          <a:p>
            <a:pPr lvl="4"/>
            <a:r>
              <a:rPr lang="en-US" altLang="en-US" dirty="0"/>
              <a:t>第五级</a:t>
            </a:r>
            <a:endParaRPr lang="en-US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defRPr sz="1200" noProof="1" smtClean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defRPr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defRPr sz="1200" noProof="1" smtClean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B76035-1C90-4B04-B8B5-7277CA17B406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黑体" panose="02010609060101010101" pitchFamily="49" charset="-122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293136"/>
          </a:solidFill>
          <a:latin typeface="+mn-lt"/>
          <a:ea typeface="黑体" panose="02010609060101010101" pitchFamily="49" charset="-122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93136"/>
          </a:solidFill>
          <a:latin typeface="+mn-lt"/>
          <a:ea typeface="黑体" panose="020106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rgbClr val="293136"/>
          </a:solidFill>
          <a:latin typeface="+mn-lt"/>
          <a:ea typeface="黑体" panose="02010609060101010101" pitchFamily="49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rgbClr val="293136"/>
          </a:solidFill>
          <a:latin typeface="+mn-lt"/>
          <a:ea typeface="黑体" panose="02010609060101010101" pitchFamily="49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rgbClr val="293136"/>
          </a:solidFill>
          <a:latin typeface="+mn-lt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9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066925" y="1754505"/>
            <a:ext cx="7931150" cy="949325"/>
          </a:xfrm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+mn-lt"/>
              </a:rPr>
              <a:t>基于</a:t>
            </a:r>
            <a:r>
              <a:rPr kumimoji="0" lang="en-US" altLang="zh-CN" sz="4800" b="1" i="0" u="none" strike="noStrike" kern="1200" cap="none" spc="0" normalizeH="0" baseline="0" noProof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+mn-lt"/>
              </a:rPr>
              <a:t> 3DGS</a:t>
            </a:r>
            <a:r>
              <a:rPr kumimoji="0" lang="zh-CN" altLang="en-US" sz="4800" b="1" i="0" u="none" strike="noStrike" kern="1200" cap="none" spc="0" normalizeH="0" baseline="0" noProof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+mn-lt"/>
              </a:rPr>
              <a:t>的自动驾驶场景仿真与新视角合成研究</a:t>
            </a:r>
            <a:endParaRPr kumimoji="0" lang="zh-CN" altLang="en-US" sz="4800" b="1" i="0" u="none" strike="noStrike" kern="1200" cap="none" spc="0" normalizeH="0" baseline="0" noProof="1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219700" y="3373438"/>
            <a:ext cx="1617663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chemeClr val="accent5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2026.03</a:t>
            </a:r>
            <a:endParaRPr kumimoji="0" lang="en-US" altLang="zh-CN" kern="1200" cap="none" spc="0" normalizeH="0" baseline="0" noProof="1">
              <a:solidFill>
                <a:schemeClr val="accent5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7365" y="494665"/>
            <a:ext cx="8242300" cy="621665"/>
          </a:xfrm>
        </p:spPr>
        <p:txBody>
          <a:bodyPr>
            <a:normAutofit/>
          </a:bodyPr>
          <a:p>
            <a:r>
              <a:rPr lang="en-US" altLang="zh-CN"/>
              <a:t>3DGS</a:t>
            </a:r>
            <a:r>
              <a:rPr lang="zh-CN" altLang="en-US"/>
              <a:t>自动驾驶场景仿真的技术脉络</a:t>
            </a:r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268605" y="1076960"/>
            <a:ext cx="11861165" cy="7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05765" y="1363980"/>
            <a:ext cx="11454765" cy="5207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 anchor="ctr" anchorCtr="0">
            <a:noAutofit/>
          </a:bodyPr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2020</a:t>
            </a:r>
            <a:r>
              <a:rPr lang="en-US" altLang="zh-CN" sz="2000" b="1"/>
              <a:t> NeRF: </a:t>
            </a:r>
            <a:r>
              <a:rPr lang="zh-CN" altLang="en-US" sz="2000" b="1"/>
              <a:t>隐式</a:t>
            </a:r>
            <a:r>
              <a:rPr lang="en-US" altLang="zh-CN" sz="2000" b="1"/>
              <a:t> MLP / </a:t>
            </a:r>
            <a:r>
              <a:rPr lang="zh-CN" altLang="en-US" sz="2000" b="1"/>
              <a:t>体渲染</a:t>
            </a:r>
            <a:r>
              <a:rPr lang="en-US" altLang="zh-CN" sz="2000" b="1"/>
              <a:t> / 0.1-1 FPS         </a:t>
            </a:r>
            <a:r>
              <a:rPr lang="en-US" altLang="zh-CN" sz="2000" b="1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altLang="zh-CN" sz="2000" b="1"/>
              <a:t>        </a:t>
            </a: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2023</a:t>
            </a:r>
            <a:r>
              <a:rPr lang="en-US" altLang="zh-CN" sz="2000" b="1"/>
              <a:t> 3DGS: </a:t>
            </a:r>
            <a:r>
              <a:rPr lang="zh-CN" altLang="en-US" sz="2000" b="1"/>
              <a:t>显式高斯</a:t>
            </a:r>
            <a:r>
              <a:rPr lang="en-US" altLang="zh-CN" sz="2000" b="1"/>
              <a:t> / </a:t>
            </a:r>
            <a:r>
              <a:rPr lang="zh-CN" altLang="en-US" sz="2000" b="1"/>
              <a:t>光栅化</a:t>
            </a:r>
            <a:r>
              <a:rPr lang="en-US" altLang="zh-CN" sz="2000" b="1"/>
              <a:t> / 100+ FPS    </a:t>
            </a:r>
            <a:endParaRPr lang="en-US" altLang="zh-CN" sz="2000" b="1"/>
          </a:p>
        </p:txBody>
      </p:sp>
      <p:sp>
        <p:nvSpPr>
          <p:cNvPr id="4" name="文本框 3"/>
          <p:cNvSpPr txBox="1"/>
          <p:nvPr/>
        </p:nvSpPr>
        <p:spPr>
          <a:xfrm>
            <a:off x="565785" y="2164080"/>
            <a:ext cx="4064000" cy="1368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600"/>
              </a:spcBef>
            </a:pPr>
            <a:r>
              <a:rPr lang="en-US" altLang="zh-CN" sz="2000"/>
              <a:t> </a:t>
            </a:r>
            <a:r>
              <a:rPr lang="zh-CN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动态</a:t>
            </a:r>
            <a:r>
              <a:rPr 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3DGS</a:t>
            </a:r>
            <a:endParaRPr lang="en-US" altLang="zh-CN" sz="20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4D-Rotor Gaussian Splatting</a:t>
            </a:r>
            <a:endParaRPr lang="en-US" altLang="zh-CN" sz="16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Deformable 3DGS</a:t>
            </a:r>
            <a:endParaRPr lang="en-US" altLang="zh-CN" sz="16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PVG</a:t>
            </a:r>
            <a:endParaRPr lang="en-US" altLang="zh-CN" sz="1600"/>
          </a:p>
        </p:txBody>
      </p:sp>
      <p:sp>
        <p:nvSpPr>
          <p:cNvPr id="5" name="文本框 4"/>
          <p:cNvSpPr txBox="1"/>
          <p:nvPr/>
        </p:nvSpPr>
        <p:spPr>
          <a:xfrm>
            <a:off x="565785" y="4084320"/>
            <a:ext cx="4064000" cy="1368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600"/>
              </a:spcBef>
            </a:pPr>
            <a:r>
              <a:rPr lang="en-US" altLang="zh-CN"/>
              <a:t> </a:t>
            </a:r>
            <a:r>
              <a:rPr lang="en-US" altLang="zh-CN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深度估计先验</a:t>
            </a:r>
            <a:endParaRPr lang="zh-CN" altLang="en-US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Depth Anything V1 / V2</a:t>
            </a:r>
            <a:endParaRPr lang="en-US" altLang="zh-CN" sz="16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Depth Anything 3 (DA3)</a:t>
            </a:r>
            <a:endParaRPr lang="en-US" altLang="zh-CN" sz="16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MoGe-2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6093460" y="2164080"/>
            <a:ext cx="4064000" cy="1368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600"/>
              </a:spcBef>
            </a:pPr>
            <a:r>
              <a:rPr lang="en-US" altLang="zh-CN" sz="2000"/>
              <a:t> </a:t>
            </a:r>
            <a:r>
              <a:rPr lang="zh-CN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前馈重建</a:t>
            </a:r>
            <a:endParaRPr lang="zh-CN" altLang="en-US" sz="20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VGGT / DriveVGGT</a:t>
            </a:r>
            <a:endParaRPr lang="en-US" altLang="zh-CN" sz="16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DGGT</a:t>
            </a:r>
            <a:endParaRPr lang="en-US" altLang="zh-CN" sz="16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WorldSplat</a:t>
            </a:r>
            <a:endParaRPr lang="en-US" altLang="zh-CN" sz="1600"/>
          </a:p>
        </p:txBody>
      </p:sp>
      <p:sp>
        <p:nvSpPr>
          <p:cNvPr id="8" name="文本框 7"/>
          <p:cNvSpPr txBox="1"/>
          <p:nvPr/>
        </p:nvSpPr>
        <p:spPr>
          <a:xfrm>
            <a:off x="6093460" y="4084320"/>
            <a:ext cx="5767070" cy="1368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600"/>
              </a:spcBef>
            </a:pPr>
            <a:r>
              <a:rPr lang="en-US" altLang="zh-CN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zh-CN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自动驾驶领域的应用</a:t>
            </a:r>
            <a:endParaRPr lang="zh-CN" altLang="en-US" sz="2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Street Gaussians / DrivingGaussian / OmniRe	</a:t>
            </a:r>
            <a:endParaRPr lang="en-US" altLang="zh-CN" sz="16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ReconDrive / HUGS</a:t>
            </a:r>
            <a:endParaRPr lang="en-US" altLang="zh-CN" sz="1600"/>
          </a:p>
          <a:p>
            <a:pPr marL="742950" lvl="1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en-US" altLang="zh-CN" sz="1600"/>
              <a:t>MARS / HUGSIM</a:t>
            </a:r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7365" y="494665"/>
            <a:ext cx="6565900" cy="621665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三大演进趋势</a:t>
            </a:r>
            <a:endParaRPr lang="zh-CN" altLang="en-US">
              <a:sym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68605" y="1076960"/>
            <a:ext cx="11861165" cy="7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39065" y="1838960"/>
            <a:ext cx="1162113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、架构升维：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Pose-free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与端到端急速重构</a:t>
            </a:r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457200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混合表征</a:t>
            </a:r>
            <a:r>
              <a:rPr lang="en-US" altLang="zh-CN"/>
              <a:t>  </a:t>
            </a:r>
            <a:r>
              <a:rPr lang="zh-CN" altLang="en-US" sz="1600"/>
              <a:t>结合显式与隐式优势，利用</a:t>
            </a:r>
            <a:r>
              <a:rPr lang="en-US" altLang="zh-CN" sz="1600"/>
              <a:t> VGGT </a:t>
            </a:r>
            <a:r>
              <a:rPr lang="zh-CN" altLang="en-US" sz="1600"/>
              <a:t>基础模型实现前馈预测，有效减少传统流水线的误差累积。</a:t>
            </a:r>
            <a:endParaRPr lang="zh-CN" altLang="en-US"/>
          </a:p>
          <a:p>
            <a:pPr indent="457200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黒盒化提速</a:t>
            </a:r>
            <a:r>
              <a:rPr lang="en-US" altLang="zh-CN"/>
              <a:t> </a:t>
            </a:r>
            <a:r>
              <a:rPr lang="zh-CN" altLang="en-US" sz="1600"/>
              <a:t>重建效率已从分钟级跃升至毫秒级。</a:t>
            </a:r>
            <a:r>
              <a:rPr lang="en-US" altLang="zh-CN" sz="1600"/>
              <a:t>DGGT </a:t>
            </a:r>
            <a:r>
              <a:rPr lang="zh-CN" altLang="en-US" sz="1600"/>
              <a:t>实现免位姿重建；</a:t>
            </a:r>
            <a:r>
              <a:rPr lang="en-US" altLang="zh-CN" sz="1600"/>
              <a:t>DA3 </a:t>
            </a:r>
            <a:r>
              <a:rPr lang="zh-CN" altLang="en-US" sz="1600"/>
              <a:t>支持未知位姿下的高精度几何对齐。</a:t>
            </a:r>
            <a:endParaRPr lang="zh-CN" altLang="en-US" sz="1600"/>
          </a:p>
        </p:txBody>
      </p:sp>
      <p:sp>
        <p:nvSpPr>
          <p:cNvPr id="9" name="文本框 8"/>
          <p:cNvSpPr txBox="1"/>
          <p:nvPr/>
        </p:nvSpPr>
        <p:spPr>
          <a:xfrm>
            <a:off x="173990" y="3740785"/>
            <a:ext cx="5082540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、物理筑基：多模态先验与动力学融合</a:t>
            </a:r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457200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多模态增强</a:t>
            </a:r>
            <a:r>
              <a:rPr lang="en-US" altLang="zh-CN"/>
              <a:t>  </a:t>
            </a:r>
            <a:r>
              <a:rPr lang="zh-CN" altLang="en-US"/>
              <a:t>引入</a:t>
            </a:r>
            <a:r>
              <a:rPr lang="en-US" altLang="zh-CN"/>
              <a:t> LiDAR </a:t>
            </a:r>
            <a:r>
              <a:rPr lang="zh-CN" altLang="en-US"/>
              <a:t>先验，显著增强弱纹理区域的几何稳定性。</a:t>
            </a:r>
            <a:endParaRPr lang="zh-CN" altLang="en-US"/>
          </a:p>
          <a:p>
            <a:pPr indent="457200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引入物理约束</a:t>
            </a:r>
            <a:r>
              <a:rPr lang="en-US" altLang="zh-CN"/>
              <a:t> </a:t>
            </a:r>
            <a:r>
              <a:rPr lang="en-US" altLang="zh-CN" sz="1600"/>
              <a:t>HUGSIM </a:t>
            </a:r>
            <a:r>
              <a:rPr lang="zh-CN" altLang="en-US" sz="1600"/>
              <a:t>引入单轮车物理模型约束轨迹，利用多平面约束解决视角外推导致的几何畸变。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5641340" y="3740785"/>
            <a:ext cx="5082540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、视界补全：生成式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4D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驱动与外推修复</a:t>
            </a:r>
            <a:endParaRPr lang="zh-CN" altLang="en-US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457200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时空解耦</a:t>
            </a:r>
            <a:r>
              <a:rPr lang="en-US" altLang="zh-CN"/>
              <a:t>  DGGT </a:t>
            </a:r>
            <a:r>
              <a:rPr lang="zh-CN" altLang="en-US"/>
              <a:t>提出</a:t>
            </a:r>
            <a:r>
              <a:rPr lang="en-US" altLang="zh-CN"/>
              <a:t> Lifespan Head </a:t>
            </a:r>
            <a:r>
              <a:rPr lang="zh-CN" altLang="en-US"/>
              <a:t>技术，精确捕捉变道等复杂场景的非线性运动轨迹</a:t>
            </a:r>
            <a:r>
              <a:rPr lang="zh-CN" altLang="en-US"/>
              <a:t>。</a:t>
            </a:r>
            <a:endParaRPr lang="zh-CN" altLang="en-US"/>
          </a:p>
          <a:p>
            <a:pPr indent="457200">
              <a:spcBef>
                <a:spcPts val="600"/>
              </a:spcBef>
              <a:spcAft>
                <a:spcPts val="600"/>
              </a:spcAft>
            </a:pP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想象力</a:t>
            </a:r>
            <a:r>
              <a:rPr lang="en-US" altLang="zh-CN"/>
              <a:t> </a:t>
            </a:r>
            <a:r>
              <a:rPr lang="en-US" altLang="zh-CN" sz="1600"/>
              <a:t>WorldSplat </a:t>
            </a:r>
            <a:r>
              <a:rPr lang="zh-CN" altLang="en-US" sz="1600"/>
              <a:t>结合</a:t>
            </a:r>
            <a:r>
              <a:rPr lang="en-US" altLang="zh-CN" sz="1600"/>
              <a:t> LDM </a:t>
            </a:r>
            <a:r>
              <a:rPr lang="zh-CN" altLang="en-US" sz="1600"/>
              <a:t>实现</a:t>
            </a:r>
            <a:r>
              <a:rPr lang="en-US" altLang="zh-CN" sz="1600"/>
              <a:t> 4D “</a:t>
            </a:r>
            <a:r>
              <a:rPr lang="zh-CN" altLang="en-US" sz="1600"/>
              <a:t>脑补</a:t>
            </a:r>
            <a:r>
              <a:rPr lang="en-US" altLang="zh-CN" sz="1600"/>
              <a:t>”</a:t>
            </a:r>
            <a:r>
              <a:rPr lang="zh-CN" altLang="en-US" sz="1600"/>
              <a:t>，通过</a:t>
            </a:r>
            <a:r>
              <a:rPr lang="en-US" altLang="zh-CN" sz="1600"/>
              <a:t> Diffusion Refinement </a:t>
            </a:r>
            <a:r>
              <a:rPr lang="zh-CN" altLang="en-US" sz="1600"/>
              <a:t>修复鬼影遮挡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7365" y="494665"/>
            <a:ext cx="7206615" cy="621665"/>
          </a:xfrm>
        </p:spPr>
        <p:txBody>
          <a:bodyPr>
            <a:normAutofit/>
          </a:bodyPr>
          <a:p>
            <a:r>
              <a:rPr lang="en-US" altLang="zh-CN"/>
              <a:t>HUGSIM</a:t>
            </a:r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268605" y="1076960"/>
            <a:ext cx="11861165" cy="7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" y="2601595"/>
            <a:ext cx="11075670" cy="42564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25745" y="1182370"/>
            <a:ext cx="4064000" cy="1254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多模态整体性场景表示</a:t>
            </a:r>
            <a:endParaRPr lang="zh-CN" altLang="en-US"/>
          </a:p>
          <a:p>
            <a:pPr indent="457200">
              <a:buFont typeface="Wingdings" panose="05000000000000000000" charset="0"/>
            </a:pPr>
            <a:r>
              <a:rPr lang="en-US" altLang="zh-CN" sz="1600">
                <a:sym typeface="+mn-ea"/>
              </a:rPr>
              <a:t>- </a:t>
            </a:r>
            <a:r>
              <a:rPr lang="zh-CN" altLang="en-US" sz="1600">
                <a:sym typeface="+mn-ea"/>
              </a:rPr>
              <a:t>外观、语义、光流、深度、刚体运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基于单轮车模型的轨迹正则化</a:t>
            </a:r>
            <a:endParaRPr lang="zh-CN" altLang="en-US"/>
          </a:p>
          <a:p>
            <a:pPr indent="457200">
              <a:buFont typeface="Wingdings" panose="05000000000000000000" charset="0"/>
            </a:pPr>
            <a:r>
              <a:rPr lang="en-US" altLang="zh-CN" sz="1600"/>
              <a:t>- </a:t>
            </a:r>
            <a:r>
              <a:rPr lang="zh-CN" altLang="en-US" sz="1600"/>
              <a:t>引入了物理约束优化动态物体的重建</a:t>
            </a:r>
            <a:endParaRPr lang="zh-CN" altLang="en-US" sz="1600"/>
          </a:p>
          <a:p>
            <a:pPr>
              <a:buFont typeface="Wingdings" panose="05000000000000000000" charset="0"/>
            </a:pPr>
            <a:endParaRPr lang="zh-CN" altLang="en-US"/>
          </a:p>
          <a:p>
            <a:pPr indent="457200">
              <a:buFont typeface="Wingdings" panose="05000000000000000000" charset="0"/>
            </a:pPr>
            <a:endParaRPr lang="zh-CN" altLang="en-US" sz="1600"/>
          </a:p>
          <a:p>
            <a:pPr indent="457200">
              <a:buFont typeface="Wingdings" panose="05000000000000000000" charset="0"/>
            </a:pP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55600" y="1082675"/>
            <a:ext cx="4752975" cy="1254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多平面地面高斯模型</a:t>
            </a:r>
            <a:endParaRPr lang="zh-CN" altLang="en-US"/>
          </a:p>
          <a:p>
            <a:pPr indent="457200">
              <a:buFont typeface="Wingdings" panose="05000000000000000000" charset="0"/>
            </a:pPr>
            <a:r>
              <a:rPr lang="en-US" altLang="zh-CN" sz="1600">
                <a:sym typeface="+mn-ea"/>
              </a:rPr>
              <a:t>- </a:t>
            </a:r>
            <a:r>
              <a:rPr lang="zh-CN" altLang="en-US" sz="1600">
                <a:sym typeface="+mn-ea"/>
              </a:rPr>
              <a:t>优化</a:t>
            </a:r>
            <a:r>
              <a:rPr lang="zh-CN" altLang="en-US" sz="1600"/>
              <a:t>视角外推时复杂路面的成像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高保真非原生车辆资产注入</a:t>
            </a:r>
            <a:endParaRPr lang="zh-CN" altLang="en-US"/>
          </a:p>
          <a:p>
            <a:pPr indent="457200">
              <a:buFont typeface="Wingdings" panose="05000000000000000000" charset="0"/>
            </a:pPr>
            <a:r>
              <a:rPr lang="en-US" altLang="zh-CN" sz="1600"/>
              <a:t>- 360</a:t>
            </a:r>
            <a:r>
              <a:rPr lang="zh-CN" altLang="en-US" sz="1600"/>
              <a:t>度外部非原生模型注入增强保真度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解耦式场景表示与参数优化策略</a:t>
            </a:r>
            <a:endParaRPr lang="zh-CN" altLang="en-US"/>
          </a:p>
          <a:p>
            <a:pPr indent="457200">
              <a:buFont typeface="Wingdings" panose="05000000000000000000" charset="0"/>
            </a:pPr>
            <a:r>
              <a:rPr lang="en-US" altLang="zh-CN" sz="1600"/>
              <a:t>- </a:t>
            </a:r>
            <a:r>
              <a:rPr lang="zh-CN" altLang="en-US" sz="1600"/>
              <a:t>地面、非地面静态背景和动态物体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sz="1600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sz="1600"/>
          </a:p>
          <a:p>
            <a:pPr>
              <a:buFont typeface="Wingdings" panose="05000000000000000000" charset="0"/>
            </a:pPr>
            <a:endParaRPr lang="zh-CN" altLang="en-US"/>
          </a:p>
          <a:p>
            <a:pPr indent="457200">
              <a:buFont typeface="Wingdings" panose="05000000000000000000" charset="0"/>
            </a:pPr>
            <a:endParaRPr lang="zh-CN" altLang="en-US" sz="1600"/>
          </a:p>
          <a:p>
            <a:pPr indent="457200">
              <a:buFont typeface="Wingdings" panose="05000000000000000000" charset="0"/>
            </a:pP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7365" y="494665"/>
            <a:ext cx="10193020" cy="621665"/>
          </a:xfrm>
        </p:spPr>
        <p:txBody>
          <a:bodyPr>
            <a:normAutofit/>
          </a:bodyPr>
          <a:p>
            <a:r>
              <a:rPr lang="zh-CN" altLang="en-US"/>
              <a:t>自采数据适配</a:t>
            </a:r>
            <a:r>
              <a:rPr lang="en-US" altLang="zh-CN"/>
              <a:t>HUGSIM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590550" y="13493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数据输入</a:t>
            </a:r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37530" y="13493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发现的问题</a:t>
            </a:r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55640" y="1728470"/>
            <a:ext cx="5972810" cy="3384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训练得到的</a:t>
            </a:r>
            <a:r>
              <a:rPr lang="en-US" altLang="zh-CN">
                <a:sym typeface="+mn-ea"/>
              </a:rPr>
              <a:t>3dgs</a:t>
            </a:r>
            <a:r>
              <a:rPr lang="zh-CN" altLang="en-US">
                <a:sym typeface="+mn-ea"/>
              </a:rPr>
              <a:t>场景在原路径相机视角下生成的图片不准</a:t>
            </a:r>
            <a:endParaRPr lang="zh-CN" altLang="en-US">
              <a:sym typeface="+mn-ea"/>
            </a:endParaRPr>
          </a:p>
          <a:p>
            <a:pPr indent="457200">
              <a:buFont typeface="Wingdings" panose="05000000000000000000" charset="0"/>
            </a:pPr>
            <a:r>
              <a:rPr lang="en-US" altLang="zh-CN" sz="1600">
                <a:sym typeface="+mn-ea"/>
              </a:rPr>
              <a:t>--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场景坐标与真实世界坐标系不匹配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变道场景下新视角图片扭曲</a:t>
            </a: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动态物体标注不准</a:t>
            </a: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六路照片（</a:t>
            </a:r>
            <a:r>
              <a:rPr lang="en-US" altLang="zh-CN">
                <a:sym typeface="+mn-ea"/>
              </a:rPr>
              <a:t>450x800</a:t>
            </a:r>
            <a:r>
              <a:rPr lang="zh-CN" altLang="en-US">
                <a:sym typeface="+mn-ea"/>
              </a:rPr>
              <a:t>）同时渲染帧率只有</a:t>
            </a:r>
            <a:r>
              <a:rPr lang="en-US" altLang="zh-CN">
                <a:sym typeface="+mn-ea"/>
              </a:rPr>
              <a:t>5Hz</a:t>
            </a:r>
            <a:endParaRPr lang="en-US" altLang="zh-CN">
              <a:sym typeface="+mn-ea"/>
            </a:endParaRPr>
          </a:p>
          <a:p>
            <a:pPr indent="457200">
              <a:buFont typeface="Wingdings" panose="05000000000000000000" charset="0"/>
            </a:pPr>
            <a:r>
              <a:rPr lang="en-US" altLang="zh-CN">
                <a:sym typeface="+mn-ea"/>
              </a:rPr>
              <a:t>-- 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真实视频注入场景要求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3840x2160+1920x1280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路）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>
              <a:buFont typeface="Wingdings" panose="05000000000000000000" charset="0"/>
            </a:pPr>
            <a:r>
              <a:rPr lang="en-US" altLang="zh-CN">
                <a:sym typeface="+mn-ea"/>
              </a:rPr>
              <a:t>--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要求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10Hz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en-US" altLang="zh-CN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8050" y="1809750"/>
            <a:ext cx="4064000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zh-CN" altLang="en-US"/>
              <a:t>实车采集照片</a:t>
            </a:r>
            <a:endParaRPr lang="zh-CN" altLang="en-US"/>
          </a:p>
          <a:p>
            <a:pPr marL="285750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zh-CN" altLang="en-US"/>
              <a:t>点云数据</a:t>
            </a:r>
            <a:endParaRPr lang="zh-CN" altLang="en-US"/>
          </a:p>
          <a:p>
            <a:pPr marL="285750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zh-CN" altLang="en-US"/>
              <a:t>相机参数</a:t>
            </a:r>
            <a:endParaRPr lang="zh-CN" altLang="en-US"/>
          </a:p>
          <a:p>
            <a:pPr marL="285750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zh-CN" altLang="en-US"/>
              <a:t>自车位姿</a:t>
            </a:r>
            <a:endParaRPr lang="zh-CN" altLang="en-US"/>
          </a:p>
          <a:p>
            <a:pPr marL="285750" indent="-285750">
              <a:spcBef>
                <a:spcPts val="600"/>
              </a:spcBef>
              <a:buFont typeface="Wingdings" panose="05000000000000000000" charset="0"/>
              <a:buChar char=""/>
            </a:pPr>
            <a:r>
              <a:rPr lang="zh-CN" altLang="en-US"/>
              <a:t>动态物体标注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95705" y="6518275"/>
            <a:ext cx="33515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变道场景下新视角图片扭曲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图片 14" descr="000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0" y="4004945"/>
            <a:ext cx="3829050" cy="255333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426960" y="6518275"/>
            <a:ext cx="19456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600">
                <a:latin typeface="宋体" panose="02010600030101010101" pitchFamily="2" charset="-122"/>
                <a:ea typeface="宋体" panose="02010600030101010101" pitchFamily="2" charset="-122"/>
              </a:rPr>
              <a:t>动态物体标注不准</a:t>
            </a:r>
            <a:endParaRPr 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432040" y="5334000"/>
            <a:ext cx="515620" cy="432435"/>
          </a:xfrm>
          <a:prstGeom prst="ellipse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220" y="4004945"/>
            <a:ext cx="1781175" cy="1647825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>
            <a:off x="268605" y="1076960"/>
            <a:ext cx="11861165" cy="7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45" y="4004945"/>
            <a:ext cx="4601210" cy="255397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 rot="19860000">
            <a:off x="2390140" y="5220335"/>
            <a:ext cx="828675" cy="432435"/>
          </a:xfrm>
          <a:prstGeom prst="ellipse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sym typeface="+mn-ea"/>
              </a:rPr>
              <a:t>论文方案</a:t>
            </a:r>
            <a:endParaRPr lang="zh-CN">
              <a:sym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68605" y="1076960"/>
            <a:ext cx="11861165" cy="7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699135" y="1115695"/>
            <a:ext cx="4064000" cy="5509895"/>
            <a:chOff x="303" y="1757"/>
            <a:chExt cx="6400" cy="8677"/>
          </a:xfrm>
        </p:grpSpPr>
        <p:sp>
          <p:nvSpPr>
            <p:cNvPr id="3" name="文本框 2"/>
            <p:cNvSpPr txBox="1"/>
            <p:nvPr/>
          </p:nvSpPr>
          <p:spPr>
            <a:xfrm>
              <a:off x="303" y="1757"/>
              <a:ext cx="441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技术路线：三阶段全流程</a:t>
              </a:r>
              <a:endPara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03" y="2373"/>
              <a:ext cx="6400" cy="2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spcBef>
                  <a:spcPts val="600"/>
                </a:spcBef>
              </a:pPr>
              <a:r>
                <a: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1. </a:t>
              </a: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数据预处理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400"/>
                <a:t>    </a:t>
              </a:r>
              <a:r>
                <a:rPr lang="zh-CN" altLang="en-US" sz="1400"/>
                <a:t>多源数据融合：图像、点云、自车轨迹</a:t>
              </a:r>
              <a:endParaRPr lang="zh-CN" altLang="en-US" sz="1400"/>
            </a:p>
            <a:p>
              <a:pPr>
                <a:spcBef>
                  <a:spcPts val="600"/>
                </a:spcBef>
              </a:pPr>
              <a:r>
                <a:rPr lang="en-US" altLang="zh-CN" sz="1400"/>
                <a:t>    </a:t>
              </a:r>
              <a:r>
                <a:rPr lang="zh-CN" altLang="en-US" sz="1400"/>
                <a:t>度量空间锚定：利用</a:t>
              </a:r>
              <a:r>
                <a:rPr lang="en-US" altLang="zh-CN" sz="1400"/>
                <a:t>DA3</a:t>
              </a:r>
              <a:r>
                <a:rPr lang="zh-CN" altLang="en-US" sz="1400"/>
                <a:t>，实现仿真环</a:t>
              </a:r>
              <a:endParaRPr lang="zh-CN" altLang="en-US" sz="1400"/>
            </a:p>
            <a:p>
              <a:pPr>
                <a:spcBef>
                  <a:spcPts val="600"/>
                </a:spcBef>
              </a:pPr>
              <a:r>
                <a:rPr lang="zh-CN" altLang="en-US" sz="1400"/>
                <a:t> </a:t>
              </a:r>
              <a:r>
                <a:rPr lang="en-US" altLang="zh-CN" sz="1400"/>
                <a:t>                            </a:t>
              </a:r>
              <a:r>
                <a:rPr lang="zh-CN" altLang="en-US" sz="1400"/>
                <a:t>境与真实物理世界的</a:t>
              </a:r>
              <a:r>
                <a:rPr lang="en-US" altLang="zh-CN" sz="1400"/>
                <a:t>1:1</a:t>
              </a:r>
              <a:endParaRPr lang="en-US" altLang="zh-CN" sz="1400"/>
            </a:p>
            <a:p>
              <a:pPr marL="457200" lvl="1" indent="457200">
                <a:spcBef>
                  <a:spcPts val="600"/>
                </a:spcBef>
              </a:pPr>
              <a:r>
                <a:rPr lang="en-US" altLang="zh-CN" sz="1400"/>
                <a:t>          </a:t>
              </a:r>
              <a:r>
                <a:rPr lang="zh-CN" altLang="en-US" sz="1400"/>
                <a:t>坐标映射</a:t>
              </a:r>
              <a:endParaRPr lang="zh-CN" altLang="en-US" sz="140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03" y="5084"/>
              <a:ext cx="6400" cy="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spcBef>
                  <a:spcPts val="600"/>
                </a:spcBef>
              </a:pPr>
              <a:r>
                <a: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2. </a:t>
              </a: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几何重建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400"/>
                <a:t>    </a:t>
              </a:r>
              <a:r>
                <a:rPr lang="zh-CN" altLang="en-US" sz="1400"/>
                <a:t>地面正则化约束：借鉴</a:t>
              </a:r>
              <a:r>
                <a:rPr lang="en-US" altLang="zh-CN" sz="1400"/>
                <a:t> HUGSIM </a:t>
              </a:r>
              <a:r>
                <a:rPr lang="zh-CN" altLang="en-US" sz="1400"/>
                <a:t>方案，</a:t>
              </a:r>
              <a:r>
                <a:rPr lang="en-US" altLang="zh-CN" sz="1400"/>
                <a:t>		              </a:t>
              </a:r>
              <a:r>
                <a:rPr lang="zh-CN" altLang="en-US" sz="1400"/>
                <a:t>将道路建模为局部平</a:t>
              </a:r>
              <a:endParaRPr lang="zh-CN" altLang="en-US" sz="1400"/>
            </a:p>
            <a:p>
              <a:pPr marL="914400" lvl="2" indent="457200">
                <a:spcBef>
                  <a:spcPts val="600"/>
                </a:spcBef>
              </a:pPr>
              <a:r>
                <a:rPr lang="en-US" altLang="zh-CN" sz="1400"/>
                <a:t>     </a:t>
              </a:r>
              <a:r>
                <a:rPr lang="zh-CN" altLang="en-US" sz="1400"/>
                <a:t>面集合</a:t>
              </a:r>
              <a:endParaRPr lang="zh-CN" altLang="en-US" sz="1400"/>
            </a:p>
            <a:p>
              <a:pPr>
                <a:spcBef>
                  <a:spcPts val="600"/>
                </a:spcBef>
              </a:pPr>
              <a:r>
                <a:rPr lang="en-US" altLang="zh-CN" sz="1400"/>
                <a:t>    </a:t>
              </a:r>
              <a:r>
                <a:rPr lang="zh-CN" altLang="en-US" sz="1400"/>
                <a:t>动态目标</a:t>
              </a:r>
              <a:r>
                <a:rPr lang="en-US" altLang="zh-CN" sz="1400"/>
                <a:t>4D</a:t>
              </a:r>
              <a:r>
                <a:rPr lang="zh-CN" altLang="en-US" sz="1400"/>
                <a:t>解耦：引入</a:t>
              </a:r>
              <a:r>
                <a:rPr lang="en-US" altLang="zh-CN" sz="1400"/>
                <a:t>DGGT</a:t>
              </a:r>
              <a:r>
                <a:rPr lang="zh-CN" altLang="en-US" sz="1400"/>
                <a:t>寿命头</a:t>
              </a:r>
              <a:endParaRPr lang="zh-CN" altLang="en-US" sz="1400"/>
            </a:p>
            <a:p>
              <a:pPr>
                <a:spcBef>
                  <a:spcPts val="600"/>
                </a:spcBef>
              </a:pPr>
              <a:r>
                <a:rPr lang="en-US" altLang="zh-CN" sz="1400"/>
                <a:t>    </a:t>
              </a:r>
              <a:r>
                <a:rPr lang="zh-CN" altLang="en-US" sz="1400"/>
                <a:t>抗畸变外推训练：引入</a:t>
              </a:r>
              <a:r>
                <a:rPr lang="en-US" altLang="zh-CN" sz="1400"/>
                <a:t> WorldSplat </a:t>
              </a:r>
              <a:r>
                <a:rPr lang="zh-CN" altLang="en-US" sz="1400"/>
                <a:t>侧</a:t>
              </a:r>
              <a:endParaRPr lang="zh-CN" altLang="en-US" sz="1400"/>
            </a:p>
            <a:p>
              <a:pPr>
                <a:spcBef>
                  <a:spcPts val="600"/>
                </a:spcBef>
              </a:pPr>
              <a:r>
                <a:rPr lang="zh-CN" altLang="en-US" sz="1400"/>
                <a:t> </a:t>
              </a:r>
              <a:r>
                <a:rPr lang="en-US" altLang="zh-CN" sz="1400"/>
                <a:t>                                </a:t>
              </a:r>
              <a:r>
                <a:rPr lang="zh-CN" altLang="en-US" sz="1400"/>
                <a:t>向平移扰动机制</a:t>
              </a:r>
              <a:endParaRPr lang="zh-CN" altLang="en-US" sz="14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03" y="8474"/>
              <a:ext cx="6400" cy="1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spcBef>
                  <a:spcPts val="600"/>
                </a:spcBef>
              </a:pPr>
              <a:r>
                <a: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3. </a:t>
              </a: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渲染优化与闭环集成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en-US" altLang="zh-CN" sz="1400"/>
                <a:t>    </a:t>
              </a:r>
              <a:r>
                <a:rPr lang="zh-CN" altLang="en-US" sz="1400"/>
                <a:t>高清并发渲染优化</a:t>
              </a:r>
              <a:r>
                <a:rPr lang="zh-CN" altLang="en-US" sz="1400"/>
                <a:t>：</a:t>
              </a:r>
              <a:r>
                <a:rPr lang="en-US" altLang="zh-CN" sz="1400"/>
                <a:t>“</a:t>
              </a:r>
              <a:r>
                <a:rPr lang="zh-CN" altLang="en-US" sz="1400"/>
                <a:t>一路</a:t>
              </a:r>
              <a:r>
                <a:rPr lang="en-US" altLang="zh-CN" sz="1400"/>
                <a:t>4K +</a:t>
              </a:r>
              <a:r>
                <a:rPr lang="zh-CN" altLang="en-US" sz="1400"/>
                <a:t>五路</a:t>
              </a:r>
              <a:r>
                <a:rPr lang="en-US" altLang="zh-CN" sz="1400"/>
                <a:t>2K”</a:t>
              </a:r>
              <a:endParaRPr lang="en-US" altLang="zh-CN" sz="1400"/>
            </a:p>
            <a:p>
              <a:pPr>
                <a:spcBef>
                  <a:spcPts val="600"/>
                </a:spcBef>
              </a:pPr>
              <a:r>
                <a:rPr lang="en-US" altLang="zh-CN" sz="1400"/>
                <a:t>    </a:t>
              </a:r>
              <a:r>
                <a:rPr lang="zh-CN" altLang="en-US" sz="1400"/>
                <a:t>闭环交互评测：</a:t>
              </a:r>
              <a:r>
                <a:rPr lang="en-US" altLang="zh-CN" sz="1400"/>
                <a:t>Gymnasium</a:t>
              </a:r>
              <a:r>
                <a:rPr lang="zh-CN" altLang="en-US" sz="1400"/>
                <a:t>、</a:t>
              </a:r>
              <a:r>
                <a:rPr lang="en-US" altLang="zh-CN" sz="1400"/>
                <a:t>LQR</a:t>
              </a:r>
              <a:r>
                <a:rPr lang="zh-CN" altLang="en-US" sz="1400"/>
                <a:t>、</a:t>
              </a:r>
              <a:endParaRPr lang="zh-CN" altLang="en-US" sz="1400"/>
            </a:p>
            <a:p>
              <a:pPr marL="457200" lvl="1" indent="457200">
                <a:spcBef>
                  <a:spcPts val="600"/>
                </a:spcBef>
              </a:pPr>
              <a:r>
                <a:rPr lang="zh-CN" altLang="en-US" sz="1400"/>
                <a:t> </a:t>
              </a:r>
              <a:r>
                <a:rPr lang="en-US" altLang="zh-CN" sz="1400"/>
                <a:t>          HD-Score</a:t>
              </a:r>
              <a:endParaRPr lang="en-US" altLang="zh-CN" sz="1400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351655" y="1138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核心难点与对策</a:t>
            </a:r>
            <a:endParaRPr lang="zh-CN" altLang="en-US"/>
          </a:p>
        </p:txBody>
      </p:sp>
      <p:graphicFrame>
        <p:nvGraphicFramePr>
          <p:cNvPr id="12" name="表格 11"/>
          <p:cNvGraphicFramePr/>
          <p:nvPr/>
        </p:nvGraphicFramePr>
        <p:xfrm>
          <a:off x="4507230" y="1637030"/>
          <a:ext cx="6483985" cy="404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210"/>
                <a:gridCol w="2769235"/>
                <a:gridCol w="2161540"/>
              </a:tblGrid>
              <a:tr h="367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问题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现象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对策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920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坐标系失准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原路径相机视角下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生成的图片也不真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多源数据融合</a:t>
                      </a:r>
                      <a:endParaRPr lang="zh-CN" alt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度量空间锚定（</a:t>
                      </a:r>
                      <a:r>
                        <a:rPr lang="en-US" altLang="zh-CN" sz="1800">
                          <a:sym typeface="+mn-ea"/>
                        </a:rPr>
                        <a:t>DA3</a:t>
                      </a:r>
                      <a:r>
                        <a:rPr lang="zh-CN" altLang="en-US" sz="1800">
                          <a:sym typeface="+mn-ea"/>
                        </a:rPr>
                        <a:t>）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9201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视角外推失真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变道场景下新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视角图片扭曲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引入</a:t>
                      </a:r>
                      <a:r>
                        <a:rPr lang="en-US" altLang="zh-CN"/>
                        <a:t>WorldSplat</a:t>
                      </a:r>
                      <a:r>
                        <a:rPr lang="zh-CN" altLang="en-US"/>
                        <a:t>侧向平移扰动机制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43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动态标注不准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引入</a:t>
                      </a:r>
                      <a:r>
                        <a:rPr lang="en-US" altLang="zh-CN" sz="1800">
                          <a:sym typeface="+mn-ea"/>
                        </a:rPr>
                        <a:t>DGGT</a:t>
                      </a:r>
                      <a:r>
                        <a:rPr lang="zh-CN" altLang="en-US" sz="1800">
                          <a:sym typeface="+mn-ea"/>
                        </a:rPr>
                        <a:t>寿命头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11963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多路渲染实时性瓶颈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5</a:t>
                      </a:r>
                      <a:r>
                        <a:rPr lang="zh-CN" altLang="en-US" sz="1800">
                          <a:sym typeface="+mn-ea"/>
                        </a:rPr>
                        <a:t>路</a:t>
                      </a:r>
                      <a:r>
                        <a:rPr lang="en-US" altLang="zh-CN" sz="1800">
                          <a:sym typeface="+mn-ea"/>
                        </a:rPr>
                        <a:t> </a:t>
                      </a:r>
                      <a:r>
                        <a:rPr lang="en-US" altLang="zh-CN"/>
                        <a:t>450x800 </a:t>
                      </a:r>
                      <a:r>
                        <a:rPr lang="zh-CN" altLang="en-US"/>
                        <a:t>仅</a:t>
                      </a:r>
                      <a:r>
                        <a:rPr lang="en-US" altLang="zh-CN"/>
                        <a:t>5Hz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路</a:t>
                      </a:r>
                      <a:r>
                        <a:rPr lang="en-US" altLang="zh-CN"/>
                        <a:t>4k+5</a:t>
                      </a:r>
                      <a:r>
                        <a:rPr lang="zh-CN" altLang="en-US"/>
                        <a:t>路</a:t>
                      </a:r>
                      <a:r>
                        <a:rPr lang="en-US" altLang="zh-CN"/>
                        <a:t>2K </a:t>
                      </a:r>
                      <a:r>
                        <a:rPr lang="zh-CN" altLang="en-US"/>
                        <a:t>要求</a:t>
                      </a:r>
                      <a:r>
                        <a:rPr lang="en-US" altLang="zh-CN"/>
                        <a:t>10Hz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优化渲染管线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预期成果与创新点</a:t>
            </a:r>
            <a:endParaRPr lang="zh-CN" altLang="en-US">
              <a:sym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68605" y="1076960"/>
            <a:ext cx="11861165" cy="7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07035" y="1294765"/>
            <a:ext cx="5377180" cy="5010785"/>
            <a:chOff x="641" y="1805"/>
            <a:chExt cx="8468" cy="7891"/>
          </a:xfrm>
        </p:grpSpPr>
        <p:sp>
          <p:nvSpPr>
            <p:cNvPr id="2" name="文本框 1"/>
            <p:cNvSpPr txBox="1"/>
            <p:nvPr/>
          </p:nvSpPr>
          <p:spPr>
            <a:xfrm>
              <a:off x="641" y="1805"/>
              <a:ext cx="8469" cy="1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50000"/>
                    </a:schemeClr>
                  </a:solidFill>
                </a14:hiddenFill>
              </a:ext>
            </a:extLst>
          </p:spPr>
          <p:txBody>
            <a:bodyPr wrap="square" rtlCol="0" anchor="ctr" anchorCtr="0">
              <a:spAutoFit/>
            </a:bodyPr>
            <a:p>
              <a:r>
                <a:rPr lang="zh-CN" altLang="en-US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自动驾驶仿真系统：度量一致性、高保真画质与实时闭环交互能力</a:t>
              </a:r>
              <a:endPara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44" y="2869"/>
              <a:ext cx="7747" cy="164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>
                <a:spcBef>
                  <a:spcPts val="600"/>
                </a:spcBef>
              </a:pP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高保真与几何一致的仿真环境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/>
                <a:t> </a:t>
              </a:r>
              <a:r>
                <a:rPr lang="en-US" altLang="zh-CN"/>
                <a:t> </a:t>
              </a:r>
              <a:r>
                <a:rPr lang="en-US" altLang="zh-CN" sz="1600"/>
                <a:t>- </a:t>
              </a:r>
              <a:r>
                <a:rPr lang="zh-CN" altLang="en-US" sz="1600"/>
                <a:t>成功解决变道场景下视角外推导致的畸变难题</a:t>
              </a:r>
              <a:endParaRPr lang="zh-CN" altLang="en-US" sz="1600"/>
            </a:p>
            <a:p>
              <a:pPr>
                <a:spcBef>
                  <a:spcPts val="600"/>
                </a:spcBef>
              </a:pPr>
              <a:r>
                <a:rPr lang="zh-CN" altLang="en-US" sz="1600"/>
                <a:t> </a:t>
              </a:r>
              <a:r>
                <a:rPr lang="en-US" altLang="zh-CN" sz="1600"/>
                <a:t> - </a:t>
              </a:r>
              <a:r>
                <a:rPr lang="zh-CN" altLang="en-US" sz="1600"/>
                <a:t>物理世界</a:t>
              </a:r>
              <a:r>
                <a:rPr lang="en-US" altLang="zh-CN" sz="1600"/>
                <a:t> 1:1 </a:t>
              </a:r>
              <a:r>
                <a:rPr lang="zh-CN" altLang="en-US" sz="1600"/>
                <a:t>映射</a:t>
              </a:r>
              <a:endParaRPr lang="zh-CN" altLang="en-US" sz="160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44" y="4775"/>
              <a:ext cx="7747" cy="152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>
                <a:spcBef>
                  <a:spcPts val="600"/>
                </a:spcBef>
              </a:pP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动态</a:t>
              </a:r>
              <a:r>
                <a: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Actor</a:t>
              </a: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的高鲁棒建模能力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/>
                <a:t> </a:t>
              </a:r>
              <a:r>
                <a:rPr lang="en-US" altLang="zh-CN"/>
                <a:t> </a:t>
              </a:r>
              <a:r>
                <a:rPr lang="en-US" altLang="zh-CN" sz="1600"/>
                <a:t>- </a:t>
              </a:r>
              <a:r>
                <a:rPr lang="zh-CN" altLang="en-US" sz="1600"/>
                <a:t>原始标注数据不准确</a:t>
              </a:r>
              <a:endParaRPr lang="zh-CN" altLang="en-US" sz="1600"/>
            </a:p>
            <a:p>
              <a:endParaRPr lang="zh-CN" altLang="en-US" sz="160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99" y="6188"/>
              <a:ext cx="7747" cy="164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>
                <a:spcBef>
                  <a:spcPts val="600"/>
                </a:spcBef>
              </a:pP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高性能多路高清渲染平台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/>
                <a:t> </a:t>
              </a:r>
              <a:r>
                <a:rPr lang="en-US" altLang="zh-CN"/>
                <a:t> </a:t>
              </a:r>
              <a:r>
                <a:rPr lang="en-US" altLang="zh-CN" sz="1600"/>
                <a:t>- 1 </a:t>
              </a:r>
              <a:r>
                <a:rPr lang="zh-CN" altLang="en-US" sz="1600"/>
                <a:t>路</a:t>
              </a:r>
              <a:r>
                <a:rPr lang="en-US" altLang="zh-CN" sz="1600"/>
                <a:t> 4K + 5 </a:t>
              </a:r>
              <a:r>
                <a:rPr lang="zh-CN" altLang="en-US" sz="1600"/>
                <a:t>路</a:t>
              </a:r>
              <a:r>
                <a:rPr lang="en-US" altLang="zh-CN" sz="1600"/>
                <a:t> 2K</a:t>
              </a:r>
              <a:endParaRPr lang="en-US" altLang="zh-CN" sz="1600"/>
            </a:p>
            <a:p>
              <a:pPr>
                <a:spcBef>
                  <a:spcPts val="600"/>
                </a:spcBef>
              </a:pPr>
              <a:r>
                <a:rPr lang="zh-CN" altLang="en-US" sz="1600"/>
                <a:t> </a:t>
              </a:r>
              <a:r>
                <a:rPr lang="en-US" altLang="zh-CN" sz="1600"/>
                <a:t> - </a:t>
              </a:r>
              <a:r>
                <a:rPr lang="en-US" sz="1600"/>
                <a:t>10Hz</a:t>
              </a:r>
              <a:endParaRPr lang="en-US" sz="160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44" y="8050"/>
              <a:ext cx="7747" cy="164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>
                <a:spcBef>
                  <a:spcPts val="600"/>
                </a:spcBef>
              </a:pP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闭环安全评价体系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/>
                <a:t> </a:t>
              </a:r>
              <a:r>
                <a:rPr lang="en-US" altLang="zh-CN"/>
                <a:t> </a:t>
              </a:r>
              <a:r>
                <a:rPr lang="en-US" altLang="zh-CN" sz="1600"/>
                <a:t>- </a:t>
              </a:r>
              <a:r>
                <a:rPr lang="zh-CN" altLang="en-US" sz="1600"/>
                <a:t>集成</a:t>
              </a:r>
              <a:r>
                <a:rPr lang="en-US" altLang="zh-CN" sz="1600"/>
                <a:t> Gymnasium</a:t>
              </a:r>
              <a:r>
                <a:rPr lang="zh-CN" altLang="en-US" sz="1600"/>
                <a:t>与</a:t>
              </a:r>
              <a:r>
                <a:rPr lang="en-US" altLang="zh-CN" sz="1600"/>
                <a:t>LQR</a:t>
              </a:r>
              <a:r>
                <a:rPr lang="zh-CN" altLang="en-US" sz="1600"/>
                <a:t>控制算法</a:t>
              </a:r>
              <a:endParaRPr lang="zh-CN" altLang="en-US" sz="1600"/>
            </a:p>
            <a:p>
              <a:pPr>
                <a:spcBef>
                  <a:spcPts val="600"/>
                </a:spcBef>
              </a:pPr>
              <a:r>
                <a:rPr lang="zh-CN" altLang="en-US" sz="1600"/>
                <a:t> </a:t>
              </a:r>
              <a:r>
                <a:rPr lang="en-US" altLang="zh-CN" sz="1600"/>
                <a:t> - </a:t>
              </a:r>
              <a:r>
                <a:rPr lang="zh-CN" altLang="en-US" sz="1600"/>
                <a:t>基于</a:t>
              </a:r>
              <a:r>
                <a:rPr lang="en-US" altLang="zh-CN" sz="1600"/>
                <a:t>HD-Score</a:t>
              </a:r>
              <a:r>
                <a:rPr lang="zh-CN" altLang="en-US" sz="1600"/>
                <a:t>的量化评估</a:t>
              </a:r>
              <a:endParaRPr lang="zh-CN" altLang="en-US" sz="160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097270" y="1346200"/>
            <a:ext cx="5377180" cy="4875530"/>
            <a:chOff x="9602" y="1805"/>
            <a:chExt cx="8468" cy="7678"/>
          </a:xfrm>
        </p:grpSpPr>
        <p:sp>
          <p:nvSpPr>
            <p:cNvPr id="8" name="文本框 7"/>
            <p:cNvSpPr txBox="1"/>
            <p:nvPr/>
          </p:nvSpPr>
          <p:spPr>
            <a:xfrm>
              <a:off x="9602" y="1805"/>
              <a:ext cx="8469" cy="10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50000"/>
                    </a:schemeClr>
                  </a:solidFill>
                </a14:hiddenFill>
              </a:ext>
            </a:extLst>
          </p:spPr>
          <p:txBody>
            <a:bodyPr wrap="square" rtlCol="0" anchor="ctr" anchorCtr="0">
              <a:noAutofit/>
            </a:bodyPr>
            <a:p>
              <a:pPr algn="l"/>
              <a:r>
                <a:rPr lang="zh-CN" altLang="en-US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创新点</a:t>
              </a:r>
              <a:endPara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02" y="2868"/>
              <a:ext cx="8108" cy="164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>
                <a:spcBef>
                  <a:spcPts val="600"/>
                </a:spcBef>
              </a:pPr>
              <a:r>
                <a: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物理锚定与场景缝合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/>
                <a:t> </a:t>
              </a:r>
              <a:r>
                <a:rPr lang="en-US" altLang="zh-CN"/>
                <a:t> </a:t>
              </a:r>
              <a:r>
                <a:rPr lang="en-US" altLang="zh-CN" sz="1600"/>
                <a:t>- </a:t>
              </a:r>
              <a:r>
                <a:rPr lang="zh-CN" altLang="en-US" sz="1600"/>
                <a:t>融合</a:t>
              </a:r>
              <a:r>
                <a:rPr lang="en-US" altLang="zh-CN" sz="1600"/>
                <a:t> DA3 </a:t>
              </a:r>
              <a:r>
                <a:rPr lang="zh-CN" altLang="en-US" sz="1600"/>
                <a:t>度量深度</a:t>
              </a:r>
              <a:r>
                <a:rPr lang="en-US" altLang="zh-CN" sz="1600"/>
                <a:t> + </a:t>
              </a:r>
              <a:r>
                <a:rPr lang="zh-CN" altLang="en-US" sz="1600"/>
                <a:t>轨迹约束</a:t>
              </a:r>
              <a:endParaRPr lang="zh-CN" altLang="en-US" sz="1600"/>
            </a:p>
            <a:p>
              <a:pPr>
                <a:spcBef>
                  <a:spcPts val="600"/>
                </a:spcBef>
              </a:pPr>
              <a:r>
                <a:rPr lang="zh-CN" altLang="en-US" sz="1600"/>
                <a:t> </a:t>
              </a:r>
              <a:r>
                <a:rPr lang="en-US" altLang="zh-CN" sz="1600"/>
                <a:t> - </a:t>
              </a:r>
              <a:r>
                <a:rPr lang="zh-CN" altLang="en-US" sz="1600"/>
                <a:t>首次实现独立序列向</a:t>
              </a:r>
              <a:r>
                <a:rPr lang="en-US" altLang="zh-CN" sz="1600"/>
                <a:t> </a:t>
              </a:r>
              <a:r>
                <a:rPr lang="zh-CN" altLang="en-US" sz="1600"/>
                <a:t>长距离大场景</a:t>
              </a:r>
              <a:r>
                <a:rPr lang="en-US" altLang="zh-CN" sz="1600"/>
                <a:t> </a:t>
              </a:r>
              <a:r>
                <a:rPr lang="zh-CN" altLang="en-US" sz="1600"/>
                <a:t>的时空连贯缝合</a:t>
              </a:r>
              <a:endParaRPr lang="zh-CN" altLang="en-US" sz="16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602" y="4775"/>
              <a:ext cx="8108" cy="164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>
                <a:spcBef>
                  <a:spcPts val="600"/>
                </a:spcBef>
              </a:pPr>
              <a:r>
                <a: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扰动增强训练机制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/>
                <a:t> </a:t>
              </a:r>
              <a:r>
                <a:rPr lang="en-US" altLang="zh-CN"/>
                <a:t> </a:t>
              </a:r>
              <a:r>
                <a:rPr lang="en-US" altLang="zh-CN" sz="1600"/>
                <a:t>- </a:t>
              </a:r>
              <a:r>
                <a:rPr lang="zh-CN" altLang="en-US" sz="1600"/>
                <a:t>引入侧向平移扰动训练；</a:t>
              </a:r>
              <a:endParaRPr lang="zh-CN" altLang="en-US" sz="1600"/>
            </a:p>
            <a:p>
              <a:pPr>
                <a:spcBef>
                  <a:spcPts val="600"/>
                </a:spcBef>
              </a:pPr>
              <a:r>
                <a:rPr lang="en-US" altLang="zh-CN" sz="1600"/>
                <a:t>  - </a:t>
              </a:r>
              <a:r>
                <a:rPr lang="zh-CN" altLang="en-US" sz="1600"/>
                <a:t>打破高斯过拟合，增强模型在视角外推下的泛化力</a:t>
              </a:r>
              <a:endParaRPr lang="zh-CN" altLang="en-US" sz="16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602" y="6561"/>
              <a:ext cx="8108" cy="164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>
                <a:spcBef>
                  <a:spcPts val="600"/>
                </a:spcBef>
              </a:pPr>
              <a:r>
                <a: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弱监督寿命调制滤噪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/>
                <a:t> </a:t>
              </a:r>
              <a:r>
                <a:rPr lang="en-US" altLang="zh-CN"/>
                <a:t> </a:t>
              </a:r>
              <a:r>
                <a:rPr lang="en-US" altLang="zh-CN" sz="1600"/>
                <a:t>- </a:t>
              </a:r>
              <a:r>
                <a:rPr lang="zh-CN" altLang="en-US" sz="1600"/>
                <a:t>利用</a:t>
              </a:r>
              <a:r>
                <a:rPr lang="en-US" altLang="zh-CN" sz="1600"/>
                <a:t> Lifespan Head </a:t>
              </a:r>
              <a:r>
                <a:rPr lang="zh-CN" altLang="en-US" sz="1600"/>
                <a:t>预测时间可见性</a:t>
              </a:r>
              <a:endParaRPr lang="zh-CN" altLang="en-US" sz="1600"/>
            </a:p>
            <a:p>
              <a:pPr>
                <a:spcBef>
                  <a:spcPts val="600"/>
                </a:spcBef>
              </a:pPr>
              <a:r>
                <a:rPr lang="zh-CN" altLang="en-US" sz="1600"/>
                <a:t> </a:t>
              </a:r>
              <a:r>
                <a:rPr lang="en-US" altLang="zh-CN" sz="1600"/>
                <a:t> - </a:t>
              </a:r>
              <a:r>
                <a:rPr lang="zh-CN" altLang="en-US" sz="1600"/>
                <a:t>自动滤除标注噪点伪影，降低标注依赖</a:t>
              </a:r>
              <a:endParaRPr lang="zh-CN" altLang="en-US" sz="160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02" y="8347"/>
              <a:ext cx="8108" cy="113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>
                <a:spcBef>
                  <a:spcPts val="600"/>
                </a:spcBef>
              </a:pPr>
              <a:r>
                <a:rPr lang="en-US" altLang="zh-CN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</a:t>
              </a:r>
              <a:r>
                <a: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显存敏感型管线优化</a:t>
              </a:r>
              <a:endPara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/>
                <a:t> </a:t>
              </a:r>
              <a:r>
                <a:rPr lang="en-US" altLang="zh-CN"/>
                <a:t> </a:t>
              </a:r>
              <a:r>
                <a:rPr lang="en-US" altLang="zh-CN" sz="1600"/>
                <a:t>- </a:t>
              </a:r>
              <a:r>
                <a:rPr lang="zh-CN" altLang="en-US" sz="1600"/>
                <a:t>实现多路高清任务实时渲染</a:t>
              </a:r>
              <a:endParaRPr lang="zh-CN" altLang="en-US" sz="1600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论文工作计划</a:t>
            </a:r>
            <a:endParaRPr lang="zh-CN" altLang="en-US">
              <a:sym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68605" y="1076960"/>
            <a:ext cx="11861165" cy="7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/>
          <p:nvPr/>
        </p:nvGraphicFramePr>
        <p:xfrm>
          <a:off x="507365" y="1301115"/>
          <a:ext cx="11046460" cy="5148580"/>
        </p:xfrm>
        <a:graphic>
          <a:graphicData uri="http://schemas.openxmlformats.org/drawingml/2006/table">
            <a:tbl>
              <a:tblPr/>
              <a:tblGrid>
                <a:gridCol w="1767840"/>
                <a:gridCol w="1868170"/>
                <a:gridCol w="4648835"/>
                <a:gridCol w="2761615"/>
              </a:tblGrid>
              <a:tr h="550545">
                <a:tc>
                  <a:txBody>
                    <a:bodyPr/>
                    <a:p>
                      <a:pPr marL="0" indent="0" algn="ctr" fontAlgn="t"/>
                      <a:r>
                        <a:rPr lang="zh-CN" altLang="en-US" sz="1800" b="1" i="0">
                          <a:solidFill>
                            <a:schemeClr val="accent6"/>
                          </a:solidFill>
                          <a:latin typeface="-apple-system"/>
                          <a:ea typeface="-apple-system"/>
                        </a:rPr>
                        <a:t>阶段</a:t>
                      </a:r>
                      <a:endParaRPr lang="zh-CN" altLang="en-US" sz="1800" b="1" i="0">
                        <a:solidFill>
                          <a:schemeClr val="accent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66992" marB="66992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zh-CN" altLang="en-US" sz="1800" b="1" i="0">
                          <a:solidFill>
                            <a:schemeClr val="accent6"/>
                          </a:solidFill>
                          <a:latin typeface="-apple-system"/>
                          <a:ea typeface="-apple-system"/>
                        </a:rPr>
                        <a:t>时间节点</a:t>
                      </a:r>
                      <a:endParaRPr lang="zh-CN" altLang="en-US" sz="1800" b="1" i="0">
                        <a:solidFill>
                          <a:schemeClr val="accent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66992" marB="66992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zh-CN" altLang="en-US" sz="1800" b="1" i="0">
                          <a:solidFill>
                            <a:schemeClr val="accent6"/>
                          </a:solidFill>
                          <a:latin typeface="-apple-system"/>
                          <a:ea typeface="-apple-system"/>
                        </a:rPr>
                        <a:t>核心目标与关键技术</a:t>
                      </a:r>
                      <a:endParaRPr lang="zh-CN" altLang="en-US" sz="1800" b="1" i="0">
                        <a:solidFill>
                          <a:schemeClr val="accent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66992" marB="66992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 fontAlgn="t"/>
                      <a:r>
                        <a:rPr lang="zh-CN" altLang="en-US" sz="1800" b="1" i="0">
                          <a:solidFill>
                            <a:schemeClr val="accent6"/>
                          </a:solidFill>
                          <a:latin typeface="-apple-system"/>
                          <a:ea typeface="-apple-system"/>
                        </a:rPr>
                        <a:t>关键里程碑</a:t>
                      </a:r>
                      <a:endParaRPr lang="zh-CN" altLang="en-US" sz="1800" b="1" i="0">
                        <a:solidFill>
                          <a:schemeClr val="accent6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66992" marB="66992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1948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阶段一：文献调研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2025.11 - 2026.03</a:t>
                      </a:r>
                      <a:endParaRPr lang="en-US" altLang="zh-CN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调研 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3DGS/DGGT/HUGSIM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等 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20+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篇前沿文献；完成 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HUGSIM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框架自采数据适配验证。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2026.03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开题答辩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948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阶段二：渲染攻坚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2026.04 - 2026.07</a:t>
                      </a:r>
                      <a:endParaRPr lang="en-US" altLang="zh-CN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坐标对齐：建立 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1:1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物理度量基准；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  <a:p>
                      <a:pPr marL="0" indent="0" algn="l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渲染重构：实现“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1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路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4K+5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路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2K” 10Hz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高清输出。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突破高并发渲染瓶颈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20115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阶段三：动态去噪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2026.08 - 2026.10</a:t>
                      </a:r>
                      <a:endParaRPr lang="en-US" altLang="zh-CN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WorldSplat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扰动：纠正车道线拉伸；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  <a:p>
                      <a:pPr marL="0" indent="0" algn="l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DGGT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寿命头：预测可见性，滤除 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3D Box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噪声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消除新视角“鬼影”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948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阶段四：系统集成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2026.11 - 2027.02</a:t>
                      </a:r>
                      <a:endParaRPr lang="en-US" altLang="zh-CN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Gymnasium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封装：场景无缝接入仿真环境；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  <a:p>
                      <a:pPr marL="0" indent="0" algn="l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闭环评测：利用 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LQR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算法与 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HD-Score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量化变道安全性。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2027.02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中期检查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9480">
                <a:tc>
                  <a:txBody>
                    <a:bodyPr/>
                    <a:p>
                      <a:pPr marL="0" indent="0" algn="ctr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阶段五：论文答辩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2027.03 - 2027.06</a:t>
                      </a:r>
                      <a:endParaRPr lang="en-US" altLang="zh-CN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整理</a:t>
                      </a:r>
                      <a:r>
                        <a:rPr lang="zh-CN" sz="1600" b="0" i="0">
                          <a:solidFill>
                            <a:srgbClr val="34322D"/>
                          </a:solidFill>
                          <a:latin typeface="-apple-system"/>
                          <a:ea typeface="宋体" panose="02010600030101010101" pitchFamily="2" charset="-122"/>
                        </a:rPr>
                        <a:t>虚拟场景与物理世界坐标对齐程度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、渲染帧率、</a:t>
                      </a:r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PSNR/SSIM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等核心数据；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  <a:p>
                      <a:pPr marL="0" indent="0" algn="l"/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全文撰写、润色与答辩演示。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2027.04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盲审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  <a:p>
                      <a:pPr marL="0" indent="0" algn="ctr"/>
                      <a:r>
                        <a:rPr lang="en-US" altLang="zh-CN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2027.06 </a:t>
                      </a:r>
                      <a:r>
                        <a:rPr lang="zh-CN" altLang="en-US" sz="1600" b="0" i="0">
                          <a:solidFill>
                            <a:srgbClr val="34322D"/>
                          </a:solidFill>
                          <a:latin typeface="-apple-system"/>
                          <a:ea typeface="-apple-system"/>
                        </a:rPr>
                        <a:t>最终答辩</a:t>
                      </a:r>
                      <a:endParaRPr lang="zh-CN" altLang="en-US" sz="1600" b="0" i="0">
                        <a:solidFill>
                          <a:srgbClr val="34322D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ID" val="custom0_3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ID" val="custom0_3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ID" val="custom0_3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ID" val="custom0_3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5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LAYERLEVEL" val="1_1"/>
  <p:tag name="KSO_WM_UNIT_DIAGRAM_CONTRAST_TITLE_CNT" val="6"/>
  <p:tag name="KSO_WM_UNIT_DIAGRAM_DIMENSION_TITLE_CNT" val="2"/>
  <p:tag name="KSO_WM_UNIT_ID" val="custom0_10*r_i*1_28"/>
  <p:tag name="KSO_WM_UNIT_LINE_FORE_SCHEMECOLOR_INDEX" val="10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DIAGRAM_GROUP_CODE" val="l1r1-1"/>
  <p:tag name="KSO_WM_UNIT_TYPE" val="r_i"/>
  <p:tag name="KSO_WM_UNIT_INDEX" val="1_28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ID" val="custom0_3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LAYERLEVEL" val="1_1"/>
  <p:tag name="KSO_WM_TAG_VERSION" val="1.0"/>
  <p:tag name="KSO_WM_BEAUTIFY_FLAG" val="#wm#"/>
  <p:tag name="KSO_WM_UNIT_ID" val="custom0_9*r_i*1_5"/>
  <p:tag name="KSO_WM_TEMPLATE_CATEGORY" val="custom"/>
  <p:tag name="KSO_WM_TEMPLATE_INDEX" val="0"/>
  <p:tag name="KSO_WM_UNIT_USESOURCEFORMAT_APPLY" val="0"/>
  <p:tag name="KSO_WM_DIAGRAM_GROUP_CODE" val="r1-1"/>
  <p:tag name="KSO_WM_UNIT_TYPE" val="r_i"/>
  <p:tag name="KSO_WM_UNIT_INDEX" val="1_5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ID" val="custom0_3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ID" val="custom0_3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DIAGRAM_GROUP_CODE" val="l1-1"/>
  <p:tag name="KSO_WM_UNIT_ID" val="custom0_3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1.xml><?xml version="1.0" encoding="utf-8"?>
<p:tagLst xmlns:p="http://schemas.openxmlformats.org/presentationml/2006/main">
  <p:tag name="KSO_WM_TAG_VERSION" val="1.0"/>
  <p:tag name="KSO_WM_TEMPLATE_CATEGORY" val="custom"/>
  <p:tag name="KSO_WM_TEMPLATE_INDEX" val="20184686"/>
</p:tagLst>
</file>

<file path=ppt/tags/tag12.xml><?xml version="1.0" encoding="utf-8"?>
<p:tagLst xmlns:p="http://schemas.openxmlformats.org/presentationml/2006/main">
  <p:tag name="KSO_WM_TAG_VERSION" val="1.0"/>
  <p:tag name="KSO_WM_TEMPLATE_CATEGORY" val="custom"/>
  <p:tag name="KSO_WM_TEMPLATE_INDEX" val="20184686"/>
</p:tagLst>
</file>

<file path=ppt/tags/tag13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UNIT_ID" val="custom0_1*a*1"/>
  <p:tag name="KSO_WM_UNIT_LAYERLEVEL" val="1"/>
  <p:tag name="KSO_WM_UNIT_VALUE" val="12"/>
  <p:tag name="KSO_WM_UNIT_ISCONTENTSTITLE" val="0"/>
  <p:tag name="KSO_WM_UNIT_HIGHLIGHT" val="0"/>
  <p:tag name="KSO_WM_UNIT_COMPATIBLE" val="0"/>
  <p:tag name="KSO_WM_BEAUTIFY_FLAG" val="#wm#"/>
  <p:tag name="KSO_WM_UNIT_TYPE" val="a"/>
  <p:tag name="KSO_WM_UNIT_INDEX" val="1"/>
  <p:tag name="KSO_WM_UNIT_PRESET_TEXT" val="单击此处添加标题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ID" val="custom0_1*i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5.xml><?xml version="1.0" encoding="utf-8"?>
<p:tagLst xmlns:p="http://schemas.openxmlformats.org/presentationml/2006/main">
  <p:tag name="KSO_WM_TAG_VERSION" val="1.0"/>
  <p:tag name="KSO_WM_SLIDE_ITEM_CNT" val="0"/>
  <p:tag name="KSO_WM_SLIDE_LAYOUT" val="a_b"/>
  <p:tag name="KSO_WM_SLIDE_LAYOUT_CNT" val="1_2"/>
  <p:tag name="KSO_WM_SLIDE_TYPE" val="title"/>
  <p:tag name="KSO_WM_BEAUTIFY_FLAG" val="#wm#"/>
  <p:tag name="KSO_WM_COMBINE_RELATE_SLIDE_ID" val="custom925310_1"/>
  <p:tag name="KSO_WM_TEMPLATE_CATEGORY" val="custom"/>
  <p:tag name="KSO_WM_TEMPLATE_INDEX" val="0"/>
  <p:tag name="KSO_WM_SLIDE_ID" val="custom0_1"/>
  <p:tag name="KSO_WM_SLIDE_INDEX" val="1"/>
  <p:tag name="KSO_WM_TEMPLATE_SUBCATEGORY" val="combine"/>
  <p:tag name="KSO_WM_TEMPLATE_THUMBS_INDEX" val="1、8、11、15、21、27、28、31、"/>
  <p:tag name="KSO_WM_SLIDE_SUBTYPE" val="pureTxt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0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0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0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0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0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0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0"/>
</p:tagLst>
</file>

<file path=ppt/theme/theme1.xml><?xml version="1.0" encoding="utf-8"?>
<a:theme xmlns:a="http://schemas.openxmlformats.org/drawingml/2006/main" name="方案介绍">
  <a:themeElements>
    <a:clrScheme name="富察皇后">
      <a:dk1>
        <a:srgbClr val="000000"/>
      </a:dk1>
      <a:lt1>
        <a:srgbClr val="FFFFFF"/>
      </a:lt1>
      <a:dk2>
        <a:srgbClr val="364048"/>
      </a:dk2>
      <a:lt2>
        <a:srgbClr val="F0F0F0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c5odo011">
      <a:majorFont>
        <a:latin typeface="Arial"/>
        <a:ea typeface="SimHei"/>
        <a:cs typeface=""/>
      </a:majorFont>
      <a:minorFont>
        <a:latin typeface="Arial"/>
        <a:ea typeface="Sim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2474</Words>
  <Application>WPS 演示</Application>
  <PresentationFormat/>
  <Paragraphs>240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黑体</vt:lpstr>
      <vt:lpstr>Wingdings</vt:lpstr>
      <vt:lpstr>微软雅黑</vt:lpstr>
      <vt:lpstr>Arial Unicode MS</vt:lpstr>
      <vt:lpstr>SimHei</vt:lpstr>
      <vt:lpstr>Calibri</vt:lpstr>
      <vt:lpstr>汉仪叶叶相思体简</vt:lpstr>
      <vt:lpstr>-apple-system</vt:lpstr>
      <vt:lpstr>C059</vt:lpstr>
      <vt:lpstr>方案介绍</vt:lpstr>
      <vt:lpstr>基于 3DGS的自动驾驶场景仿真与新视角合成研究</vt:lpstr>
      <vt:lpstr>3DGS自动驾驶场景仿真的技术脉络</vt:lpstr>
      <vt:lpstr>三大演进趋势</vt:lpstr>
      <vt:lpstr>HUGSIM</vt:lpstr>
      <vt:lpstr>自采数据适配HUGSIM</vt:lpstr>
      <vt:lpstr>论文方案</vt:lpstr>
      <vt:lpstr>预期成果与创新点</vt:lpstr>
      <vt:lpstr>预期成果与创新点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sil</cp:lastModifiedBy>
  <cp:revision>623</cp:revision>
  <dcterms:created xsi:type="dcterms:W3CDTF">2026-03-19T02:18:30Z</dcterms:created>
  <dcterms:modified xsi:type="dcterms:W3CDTF">2026-03-19T02:18:30Z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2052-12.1.2.24722</vt:lpwstr>
  </property>
  <property fmtid="{D5CDD505-2E9C-101B-9397-08002B2CF9AE}" pid="3" name="ICV">
    <vt:lpwstr>A33AF0EFBE3007D7DBB8B7698DB42B9A_43</vt:lpwstr>
  </property>
</Properties>
</file>